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5" r:id="rId4"/>
    <p:sldId id="258" r:id="rId5"/>
    <p:sldId id="261" r:id="rId6"/>
    <p:sldId id="259" r:id="rId7"/>
    <p:sldId id="260" r:id="rId8"/>
    <p:sldId id="262" r:id="rId9"/>
    <p:sldId id="267" r:id="rId10"/>
    <p:sldId id="263" r:id="rId11"/>
    <p:sldId id="268"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0940" autoAdjust="0"/>
  </p:normalViewPr>
  <p:slideViewPr>
    <p:cSldViewPr snapToGrid="0">
      <p:cViewPr varScale="1">
        <p:scale>
          <a:sx n="45" d="100"/>
          <a:sy n="45" d="100"/>
        </p:scale>
        <p:origin x="14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8DAAFC-CC79-486C-A7B9-F2274080EF6B}" type="datetimeFigureOut">
              <a:rPr lang="en-US" smtClean="0"/>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50F12-22F3-4521-8FEA-8CEEB3ADB751}" type="slidenum">
              <a:rPr lang="en-US" smtClean="0"/>
              <a:t>‹#›</a:t>
            </a:fld>
            <a:endParaRPr lang="en-US"/>
          </a:p>
        </p:txBody>
      </p:sp>
    </p:spTree>
    <p:extLst>
      <p:ext uri="{BB962C8B-B14F-4D97-AF65-F5344CB8AC3E}">
        <p14:creationId xmlns:p14="http://schemas.microsoft.com/office/powerpoint/2010/main" val="1428719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semantic navigation is crucial for robots operating in homes, offices, or disaster sites. Robots need to find items like a phone, a chair, or a bed inside an unknown space.</a:t>
            </a:r>
            <a:br>
              <a:rPr lang="en-US" dirty="0"/>
            </a:br>
            <a:r>
              <a:rPr lang="en-US" dirty="0"/>
              <a:t>Traditional approaches rely on either classical mapping or learning-based methods, but almost all work with </a:t>
            </a:r>
            <a:r>
              <a:rPr lang="en-US" b="1" dirty="0"/>
              <a:t>one robot</a:t>
            </a:r>
            <a:r>
              <a:rPr lang="en-US" dirty="0"/>
              <a:t> at a time. This creates inefficiencies—especially in large environments—since a single robot must explore everything alone and has poor fault tolerance as a single incorrect decision or unexpected obstacle can significantly delay or derail the navigation process.</a:t>
            </a:r>
            <a:br>
              <a:rPr lang="en-US" dirty="0"/>
            </a:br>
            <a:r>
              <a:rPr lang="en-US" dirty="0"/>
              <a:t>Recently, Vision-Language Models like GPT-4o have been used as semantic planners, but again only for </a:t>
            </a:r>
            <a:r>
              <a:rPr lang="en-US" i="1" dirty="0"/>
              <a:t>single agents</a:t>
            </a:r>
            <a:r>
              <a:rPr lang="en-US" dirty="0"/>
              <a:t>.</a:t>
            </a:r>
            <a:br>
              <a:rPr lang="en-US" dirty="0"/>
            </a:br>
            <a:r>
              <a:rPr lang="en-US" dirty="0"/>
              <a:t>The paper addresses the </a:t>
            </a:r>
            <a:r>
              <a:rPr lang="en-US" b="1" dirty="0"/>
              <a:t>specific problem</a:t>
            </a:r>
            <a:r>
              <a:rPr lang="en-US" dirty="0"/>
              <a:t>: enabling </a:t>
            </a:r>
            <a:r>
              <a:rPr lang="en-US" b="1" dirty="0"/>
              <a:t>multi-robot</a:t>
            </a:r>
            <a:r>
              <a:rPr lang="en-US" dirty="0"/>
              <a:t> teams to collaboratively explore, reason about the environment, and find objects faster by using a VLM as the global planner.”</a:t>
            </a:r>
          </a:p>
        </p:txBody>
      </p:sp>
      <p:sp>
        <p:nvSpPr>
          <p:cNvPr id="4" name="Slide Number Placeholder 3"/>
          <p:cNvSpPr>
            <a:spLocks noGrp="1"/>
          </p:cNvSpPr>
          <p:nvPr>
            <p:ph type="sldNum" sz="quarter" idx="5"/>
          </p:nvPr>
        </p:nvSpPr>
        <p:spPr/>
        <p:txBody>
          <a:bodyPr/>
          <a:lstStyle/>
          <a:p>
            <a:fld id="{B7C50F12-22F3-4521-8FEA-8CEEB3ADB751}" type="slidenum">
              <a:rPr lang="en-US" smtClean="0"/>
              <a:t>2</a:t>
            </a:fld>
            <a:endParaRPr lang="en-US"/>
          </a:p>
        </p:txBody>
      </p:sp>
    </p:spTree>
    <p:extLst>
      <p:ext uri="{BB962C8B-B14F-4D97-AF65-F5344CB8AC3E}">
        <p14:creationId xmlns:p14="http://schemas.microsoft.com/office/powerpoint/2010/main" val="1067582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Two robots visual target navigation example. When multiple unexplored frontiers are detected, the vision language model assigns the frontier for each robot based on the current observation and the target object.</a:t>
            </a:r>
          </a:p>
        </p:txBody>
      </p:sp>
      <p:sp>
        <p:nvSpPr>
          <p:cNvPr id="4" name="Slide Number Placeholder 3"/>
          <p:cNvSpPr>
            <a:spLocks noGrp="1"/>
          </p:cNvSpPr>
          <p:nvPr>
            <p:ph type="sldNum" sz="quarter" idx="5"/>
          </p:nvPr>
        </p:nvSpPr>
        <p:spPr/>
        <p:txBody>
          <a:bodyPr/>
          <a:lstStyle/>
          <a:p>
            <a:fld id="{B7C50F12-22F3-4521-8FEA-8CEEB3ADB751}" type="slidenum">
              <a:rPr lang="en-US" smtClean="0"/>
              <a:t>3</a:t>
            </a:fld>
            <a:endParaRPr lang="en-US"/>
          </a:p>
        </p:txBody>
      </p:sp>
    </p:spTree>
    <p:extLst>
      <p:ext uri="{BB962C8B-B14F-4D97-AF65-F5344CB8AC3E}">
        <p14:creationId xmlns:p14="http://schemas.microsoft.com/office/powerpoint/2010/main" val="3499239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main contribution is Co-</a:t>
            </a:r>
            <a:r>
              <a:rPr lang="en-US" dirty="0" err="1"/>
              <a:t>NavGPT</a:t>
            </a:r>
            <a:r>
              <a:rPr lang="en-US" dirty="0"/>
              <a:t>—a novel multi-robot framework where a Vision-Language Model acts as the </a:t>
            </a:r>
            <a:r>
              <a:rPr lang="en-US" b="1" dirty="0"/>
              <a:t>global planner</a:t>
            </a:r>
            <a:r>
              <a:rPr lang="en-US" dirty="0"/>
              <a:t>.</a:t>
            </a:r>
            <a:br>
              <a:rPr lang="en-US" dirty="0"/>
            </a:br>
            <a:endParaRPr lang="en-US" dirty="0"/>
          </a:p>
        </p:txBody>
      </p:sp>
      <p:sp>
        <p:nvSpPr>
          <p:cNvPr id="4" name="Slide Number Placeholder 3"/>
          <p:cNvSpPr>
            <a:spLocks noGrp="1"/>
          </p:cNvSpPr>
          <p:nvPr>
            <p:ph type="sldNum" sz="quarter" idx="5"/>
          </p:nvPr>
        </p:nvSpPr>
        <p:spPr/>
        <p:txBody>
          <a:bodyPr/>
          <a:lstStyle/>
          <a:p>
            <a:fld id="{B7C50F12-22F3-4521-8FEA-8CEEB3ADB751}" type="slidenum">
              <a:rPr lang="en-US" smtClean="0"/>
              <a:t>4</a:t>
            </a:fld>
            <a:endParaRPr lang="en-US"/>
          </a:p>
        </p:txBody>
      </p:sp>
    </p:spTree>
    <p:extLst>
      <p:ext uri="{BB962C8B-B14F-4D97-AF65-F5344CB8AC3E}">
        <p14:creationId xmlns:p14="http://schemas.microsoft.com/office/powerpoint/2010/main" val="3166140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figure shows the System architecture of the proposed multi-robot navigation framework.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robot builds a local 3D map from RGB-D images. These are merged into a global point-cloud map. From this map, the system extracts </a:t>
            </a:r>
            <a:r>
              <a:rPr lang="en-US" b="1" dirty="0"/>
              <a:t>frontier regions</a:t>
            </a:r>
            <a:r>
              <a:rPr lang="en-US" dirty="0"/>
              <a:t>, which represent unexplored areas. These frontiers, plus robot positions and the merged map, are turned into </a:t>
            </a:r>
            <a:r>
              <a:rPr lang="en-US" b="1" dirty="0"/>
              <a:t>visual prompts</a:t>
            </a:r>
            <a:r>
              <a:rPr lang="en-US" dirty="0"/>
              <a:t> and a structured </a:t>
            </a:r>
            <a:r>
              <a:rPr lang="en-US" b="1" dirty="0"/>
              <a:t>text prompt </a:t>
            </a:r>
            <a:r>
              <a:rPr lang="en-US" dirty="0"/>
              <a:t>and passed to a vision-language model, which acts as a global planner to assign frontier goals to each robot. GPT-4o then assigns which frontier each robot should explore. A local policy then computes paths to the assigned frontiers based on the obstacle map, enabling coordinated exploration and target search. No task-specific training required as Robots can leverage VLM’s commonsense knowledge  (for example beds are in bedrooms) to plan exploration routes toward likely locations of target objects, even in </a:t>
            </a:r>
            <a:r>
              <a:rPr lang="en-US" b="1" dirty="0"/>
              <a:t>new, unseen environments</a:t>
            </a:r>
            <a:r>
              <a:rPr lang="en-US" dirty="0"/>
              <a:t>. </a:t>
            </a:r>
          </a:p>
        </p:txBody>
      </p:sp>
      <p:sp>
        <p:nvSpPr>
          <p:cNvPr id="4" name="Slide Number Placeholder 3"/>
          <p:cNvSpPr>
            <a:spLocks noGrp="1"/>
          </p:cNvSpPr>
          <p:nvPr>
            <p:ph type="sldNum" sz="quarter" idx="5"/>
          </p:nvPr>
        </p:nvSpPr>
        <p:spPr/>
        <p:txBody>
          <a:bodyPr/>
          <a:lstStyle/>
          <a:p>
            <a:fld id="{B7C50F12-22F3-4521-8FEA-8CEEB3ADB751}" type="slidenum">
              <a:rPr lang="en-US" smtClean="0"/>
              <a:t>5</a:t>
            </a:fld>
            <a:endParaRPr lang="en-US"/>
          </a:p>
        </p:txBody>
      </p:sp>
    </p:spTree>
    <p:extLst>
      <p:ext uri="{BB962C8B-B14F-4D97-AF65-F5344CB8AC3E}">
        <p14:creationId xmlns:p14="http://schemas.microsoft.com/office/powerpoint/2010/main" val="2566977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 VLM is essentially performing high-level planning—coordinating robots, reasoning about spatial layout, and making semantically informed decisions.</a:t>
            </a:r>
            <a:br>
              <a:rPr lang="en-US" dirty="0"/>
            </a:br>
            <a:r>
              <a:rPr lang="en-US" dirty="0"/>
              <a:t>The local planner still handles the low-level path execution.</a:t>
            </a:r>
            <a:br>
              <a:rPr lang="en-US" dirty="0"/>
            </a:br>
            <a:r>
              <a:rPr lang="en-US" dirty="0"/>
              <a:t>Some limitations remain: incorrect object detection can cause failures, multi-floor scenarios are hard, and VLM reasoning is only as good as the prompt quality.”</a:t>
            </a:r>
          </a:p>
          <a:p>
            <a:endParaRPr lang="en-US" dirty="0"/>
          </a:p>
        </p:txBody>
      </p:sp>
      <p:sp>
        <p:nvSpPr>
          <p:cNvPr id="4" name="Slide Number Placeholder 3"/>
          <p:cNvSpPr>
            <a:spLocks noGrp="1"/>
          </p:cNvSpPr>
          <p:nvPr>
            <p:ph type="sldNum" sz="quarter" idx="5"/>
          </p:nvPr>
        </p:nvSpPr>
        <p:spPr/>
        <p:txBody>
          <a:bodyPr/>
          <a:lstStyle/>
          <a:p>
            <a:fld id="{B7C50F12-22F3-4521-8FEA-8CEEB3ADB751}" type="slidenum">
              <a:rPr lang="en-US" smtClean="0"/>
              <a:t>6</a:t>
            </a:fld>
            <a:endParaRPr lang="en-US"/>
          </a:p>
        </p:txBody>
      </p:sp>
    </p:spTree>
    <p:extLst>
      <p:ext uri="{BB962C8B-B14F-4D97-AF65-F5344CB8AC3E}">
        <p14:creationId xmlns:p14="http://schemas.microsoft.com/office/powerpoint/2010/main" val="73502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simulation, the authors use the Habitat simulator to evaluate multi-robot navigation. Each robot receives RGB-D images, odometry, and the target category as input.</a:t>
            </a:r>
            <a:br>
              <a:rPr lang="en-US" dirty="0"/>
            </a:br>
            <a:r>
              <a:rPr lang="en-US" dirty="0"/>
              <a:t>Performance is measured using three standard metrics: </a:t>
            </a:r>
            <a:r>
              <a:rPr lang="en-US" b="1" dirty="0"/>
              <a:t>Success Rate</a:t>
            </a:r>
            <a:r>
              <a:rPr lang="en-US" dirty="0"/>
              <a:t>, </a:t>
            </a:r>
            <a:r>
              <a:rPr lang="en-US" b="1" dirty="0"/>
              <a:t>SPL</a:t>
            </a:r>
            <a:r>
              <a:rPr lang="en-US" dirty="0"/>
              <a:t> for path efficiency, and </a:t>
            </a:r>
            <a:r>
              <a:rPr lang="en-US" b="1" dirty="0"/>
              <a:t>Distance to Goal</a:t>
            </a:r>
            <a:r>
              <a:rPr lang="en-US" dirty="0"/>
              <a:t> at episode end.</a:t>
            </a:r>
            <a:br>
              <a:rPr lang="en-US" dirty="0"/>
            </a:br>
            <a:r>
              <a:rPr lang="en-US" dirty="0"/>
              <a:t>They compare Co-</a:t>
            </a:r>
            <a:r>
              <a:rPr lang="en-US" dirty="0" err="1"/>
              <a:t>NavGPT</a:t>
            </a:r>
            <a:r>
              <a:rPr lang="en-US" dirty="0"/>
              <a:t> against several baselines—</a:t>
            </a:r>
            <a:r>
              <a:rPr lang="en-US" b="1" dirty="0"/>
              <a:t>Greedy</a:t>
            </a:r>
            <a:r>
              <a:rPr lang="en-US" dirty="0"/>
              <a:t>, </a:t>
            </a:r>
            <a:r>
              <a:rPr lang="en-US" b="1" dirty="0"/>
              <a:t>Cost-Utility</a:t>
            </a:r>
            <a:r>
              <a:rPr lang="en-US" dirty="0"/>
              <a:t>, </a:t>
            </a:r>
            <a:r>
              <a:rPr lang="en-US" b="1" dirty="0"/>
              <a:t>Random Sampling</a:t>
            </a:r>
            <a:r>
              <a:rPr lang="en-US" dirty="0"/>
              <a:t>, and </a:t>
            </a:r>
            <a:r>
              <a:rPr lang="en-US" b="1" dirty="0"/>
              <a:t>Multi-</a:t>
            </a:r>
            <a:r>
              <a:rPr lang="en-US" b="1" dirty="0" err="1"/>
              <a:t>SemExp</a:t>
            </a:r>
            <a:r>
              <a:rPr lang="en-US" dirty="0"/>
              <a:t>—to test both classical and learning-based exploration strategies.”</a:t>
            </a:r>
          </a:p>
        </p:txBody>
      </p:sp>
      <p:sp>
        <p:nvSpPr>
          <p:cNvPr id="4" name="Slide Number Placeholder 3"/>
          <p:cNvSpPr>
            <a:spLocks noGrp="1"/>
          </p:cNvSpPr>
          <p:nvPr>
            <p:ph type="sldNum" sz="quarter" idx="5"/>
          </p:nvPr>
        </p:nvSpPr>
        <p:spPr/>
        <p:txBody>
          <a:bodyPr/>
          <a:lstStyle/>
          <a:p>
            <a:fld id="{B7C50F12-22F3-4521-8FEA-8CEEB3ADB751}" type="slidenum">
              <a:rPr lang="en-US" smtClean="0"/>
              <a:t>7</a:t>
            </a:fld>
            <a:endParaRPr lang="en-US"/>
          </a:p>
        </p:txBody>
      </p:sp>
    </p:spTree>
    <p:extLst>
      <p:ext uri="{BB962C8B-B14F-4D97-AF65-F5344CB8AC3E}">
        <p14:creationId xmlns:p14="http://schemas.microsoft.com/office/powerpoint/2010/main" val="1076241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 </a:t>
            </a:r>
            <a:r>
              <a:rPr lang="en-US" dirty="0" err="1"/>
              <a:t>NavGPT</a:t>
            </a:r>
            <a:r>
              <a:rPr lang="en-US" dirty="0"/>
              <a:t>, consistently outperforms all baselines across all three metrics (SR, SPL, and DTG). Among traditional baselines, the Cost-Utility method outperforms the Greedy strategy, demonstrating the benefit of jointly considering utility based on frontier size and distance from the robot to the frontier as cost during goal assignment. The results of ablation study, shown in Table II, demonstrate that Co </a:t>
            </a:r>
            <a:r>
              <a:rPr lang="en-US" dirty="0" err="1"/>
              <a:t>NavGPT</a:t>
            </a:r>
            <a:r>
              <a:rPr lang="en-US" dirty="0"/>
              <a:t> achieves the best performance in both success rate and SPL. Replacing the top-view map with the obstacle map (Obs.) leads to a drop in success rate, indicating the importance of semantic context (e.g., color and layout) in the VLM-based decision making. Substituting GPT-4o with GPT-4o-mini (Mini.) reduces performance across both metrics, suggesting that the reasoning capability of larger VLMs contributes significantly to task effectiveness. Finally, the single-robot configuration (Single) yields the lowest per </a:t>
            </a:r>
            <a:r>
              <a:rPr lang="en-US" dirty="0" err="1"/>
              <a:t>formance</a:t>
            </a:r>
            <a:r>
              <a:rPr lang="en-US" dirty="0"/>
              <a:t>, highlighting the robustness and scalability benefits of the multi-robot framework</a:t>
            </a:r>
          </a:p>
        </p:txBody>
      </p:sp>
      <p:sp>
        <p:nvSpPr>
          <p:cNvPr id="4" name="Slide Number Placeholder 3"/>
          <p:cNvSpPr>
            <a:spLocks noGrp="1"/>
          </p:cNvSpPr>
          <p:nvPr>
            <p:ph type="sldNum" sz="quarter" idx="5"/>
          </p:nvPr>
        </p:nvSpPr>
        <p:spPr/>
        <p:txBody>
          <a:bodyPr/>
          <a:lstStyle/>
          <a:p>
            <a:fld id="{B7C50F12-22F3-4521-8FEA-8CEEB3ADB751}" type="slidenum">
              <a:rPr lang="en-US" smtClean="0"/>
              <a:t>8</a:t>
            </a:fld>
            <a:endParaRPr lang="en-US"/>
          </a:p>
        </p:txBody>
      </p:sp>
    </p:spTree>
    <p:extLst>
      <p:ext uri="{BB962C8B-B14F-4D97-AF65-F5344CB8AC3E}">
        <p14:creationId xmlns:p14="http://schemas.microsoft.com/office/powerpoint/2010/main" val="820905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Visualization of the visual target navigation process in the Habitat simulator using two robots to locate a bed. The top row shows first-person RGB observations from both robots (Agent 0 in red, Agent 1 in blue) at different time steps. The bottom row presents the corresponding 2D exploration map and 3D point cloud map. The red and blue lines represent the respective paths of Agent 0 and Agent 1. Red and blue dots denote frontier goals assigned by the vision-language model.</a:t>
            </a:r>
          </a:p>
        </p:txBody>
      </p:sp>
      <p:sp>
        <p:nvSpPr>
          <p:cNvPr id="4" name="Slide Number Placeholder 3"/>
          <p:cNvSpPr>
            <a:spLocks noGrp="1"/>
          </p:cNvSpPr>
          <p:nvPr>
            <p:ph type="sldNum" sz="quarter" idx="5"/>
          </p:nvPr>
        </p:nvSpPr>
        <p:spPr/>
        <p:txBody>
          <a:bodyPr/>
          <a:lstStyle/>
          <a:p>
            <a:fld id="{B7C50F12-22F3-4521-8FEA-8CEEB3ADB751}" type="slidenum">
              <a:rPr lang="en-US" smtClean="0"/>
              <a:t>9</a:t>
            </a:fld>
            <a:endParaRPr lang="en-US"/>
          </a:p>
        </p:txBody>
      </p:sp>
    </p:spTree>
    <p:extLst>
      <p:ext uri="{BB962C8B-B14F-4D97-AF65-F5344CB8AC3E}">
        <p14:creationId xmlns:p14="http://schemas.microsoft.com/office/powerpoint/2010/main" val="78878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real-world setup, the authors use two Unitree Go2 quadruped robots equipped with a RealSense RGB-D camera and a </a:t>
            </a:r>
            <a:r>
              <a:rPr lang="en-US" dirty="0" err="1"/>
              <a:t>Livox</a:t>
            </a:r>
            <a:r>
              <a:rPr lang="en-US" dirty="0"/>
              <a:t> LiDAR.</a:t>
            </a:r>
            <a:br>
              <a:rPr lang="en-US" dirty="0"/>
            </a:br>
            <a:r>
              <a:rPr lang="en-US" dirty="0"/>
              <a:t>They deploy the system in an unseen lab environment and test tasks like finding a chair, a sink, and even a person.</a:t>
            </a:r>
            <a:br>
              <a:rPr lang="en-US" dirty="0"/>
            </a:br>
            <a:r>
              <a:rPr lang="en-US" dirty="0"/>
              <a:t>The VLM consistently assigns complementary frontiers to each robot, allowing them to split up and explore efficiently.</a:t>
            </a:r>
            <a:br>
              <a:rPr lang="en-US" dirty="0"/>
            </a:br>
            <a:r>
              <a:rPr lang="en-US" dirty="0"/>
              <a:t>The entire pipeline runs in real time at about 5 FPS, demonstrating that their approach is practical for real multi-robot navigation.”</a:t>
            </a:r>
          </a:p>
        </p:txBody>
      </p:sp>
      <p:sp>
        <p:nvSpPr>
          <p:cNvPr id="4" name="Slide Number Placeholder 3"/>
          <p:cNvSpPr>
            <a:spLocks noGrp="1"/>
          </p:cNvSpPr>
          <p:nvPr>
            <p:ph type="sldNum" sz="quarter" idx="5"/>
          </p:nvPr>
        </p:nvSpPr>
        <p:spPr/>
        <p:txBody>
          <a:bodyPr/>
          <a:lstStyle/>
          <a:p>
            <a:fld id="{B7C50F12-22F3-4521-8FEA-8CEEB3ADB751}" type="slidenum">
              <a:rPr lang="en-US" smtClean="0"/>
              <a:t>10</a:t>
            </a:fld>
            <a:endParaRPr lang="en-US"/>
          </a:p>
        </p:txBody>
      </p:sp>
    </p:spTree>
    <p:extLst>
      <p:ext uri="{BB962C8B-B14F-4D97-AF65-F5344CB8AC3E}">
        <p14:creationId xmlns:p14="http://schemas.microsoft.com/office/powerpoint/2010/main" val="319608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multi-robot visual target navigation. Each scene shows the first-person RGB images, the exploration map, and the 3D point cloud map. In (a), the robots search for a sink; (b) search for a person; (c) search for a chair. Red and blue lines denote the trajectories of the two robots.</a:t>
            </a:r>
          </a:p>
        </p:txBody>
      </p:sp>
      <p:sp>
        <p:nvSpPr>
          <p:cNvPr id="4" name="Slide Number Placeholder 3"/>
          <p:cNvSpPr>
            <a:spLocks noGrp="1"/>
          </p:cNvSpPr>
          <p:nvPr>
            <p:ph type="sldNum" sz="quarter" idx="5"/>
          </p:nvPr>
        </p:nvSpPr>
        <p:spPr/>
        <p:txBody>
          <a:bodyPr/>
          <a:lstStyle/>
          <a:p>
            <a:fld id="{B7C50F12-22F3-4521-8FEA-8CEEB3ADB751}" type="slidenum">
              <a:rPr lang="en-US" smtClean="0"/>
              <a:t>11</a:t>
            </a:fld>
            <a:endParaRPr lang="en-US"/>
          </a:p>
        </p:txBody>
      </p:sp>
    </p:spTree>
    <p:extLst>
      <p:ext uri="{BB962C8B-B14F-4D97-AF65-F5344CB8AC3E}">
        <p14:creationId xmlns:p14="http://schemas.microsoft.com/office/powerpoint/2010/main" val="3790416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project, we plan to use Co-</a:t>
            </a:r>
            <a:r>
              <a:rPr lang="en-US" dirty="0" err="1"/>
              <a:t>NavGPT</a:t>
            </a:r>
            <a:r>
              <a:rPr lang="en-US" dirty="0"/>
              <a:t> as a baseline to benchmark multi-robot coordination. Like the paper, we’ll run experiments in both simulation and with two Unitree Go2 robots for real-world validation.</a:t>
            </a:r>
            <a:br>
              <a:rPr lang="en-US" dirty="0"/>
            </a:br>
            <a:r>
              <a:rPr lang="en-US" dirty="0"/>
              <a:t>Our system will fuse camera and LiDAR inputs with text-based task prompts so a VLM can generate motion plans and multi-robot tasks.</a:t>
            </a:r>
            <a:br>
              <a:rPr lang="en-US" dirty="0"/>
            </a:br>
            <a:r>
              <a:rPr lang="en-US" dirty="0"/>
              <a:t>Using Co-</a:t>
            </a:r>
            <a:r>
              <a:rPr lang="en-US" dirty="0" err="1"/>
              <a:t>NavGPT</a:t>
            </a:r>
            <a:r>
              <a:rPr lang="en-US" dirty="0"/>
              <a:t> as a reference helps us compare how different VLM-driven planning strategies affect coordination efficiency and decision-making.”</a:t>
            </a:r>
          </a:p>
        </p:txBody>
      </p:sp>
      <p:sp>
        <p:nvSpPr>
          <p:cNvPr id="4" name="Slide Number Placeholder 3"/>
          <p:cNvSpPr>
            <a:spLocks noGrp="1"/>
          </p:cNvSpPr>
          <p:nvPr>
            <p:ph type="sldNum" sz="quarter" idx="5"/>
          </p:nvPr>
        </p:nvSpPr>
        <p:spPr/>
        <p:txBody>
          <a:bodyPr/>
          <a:lstStyle/>
          <a:p>
            <a:fld id="{B7C50F12-22F3-4521-8FEA-8CEEB3ADB751}" type="slidenum">
              <a:rPr lang="en-US" smtClean="0"/>
              <a:t>12</a:t>
            </a:fld>
            <a:endParaRPr lang="en-US"/>
          </a:p>
        </p:txBody>
      </p:sp>
    </p:spTree>
    <p:extLst>
      <p:ext uri="{BB962C8B-B14F-4D97-AF65-F5344CB8AC3E}">
        <p14:creationId xmlns:p14="http://schemas.microsoft.com/office/powerpoint/2010/main" val="77356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5B9A2-CED9-C66B-5C87-567FAC12EA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67A70F-AD24-C842-3B34-50DE5638AF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BBD31A-791A-7FB2-0EA5-6ADFE1472D51}"/>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23E61335-31D1-49C8-9E5D-0B4AF3B2EA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1B05C-CE14-141D-6C20-2D83C46C5C2A}"/>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207821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5D9BE-8F90-4E50-6266-838E69110B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8B531F-C358-28C5-E544-1CFC4E1902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8D1C71-5B2E-8716-C297-96CF722DCCF0}"/>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9FB301F2-FDF5-D714-F10D-A9A4CC81B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90997-B23B-F851-63C0-4CB74334ED7F}"/>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1880907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2C7B-7D8C-3ECE-F4D2-9B715F6101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1E454E-9EED-DC2A-00A1-7748A37962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B25B1D-6178-8F67-0FB7-254FAF11BF8A}"/>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940065E3-79F7-A573-1C37-CA5EC9AA4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7B775-9FD3-E707-57F6-F55C9A10721B}"/>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276199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4217-85FB-3353-6F55-78D1DD066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F789E-86DB-E750-297B-A8F62B6217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E755AE-3AEA-AA3C-4756-B6676F7D3E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8D736D-2141-FC56-F1E0-7E3150407F00}"/>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6" name="Footer Placeholder 5">
            <a:extLst>
              <a:ext uri="{FF2B5EF4-FFF2-40B4-BE49-F238E27FC236}">
                <a16:creationId xmlns:a16="http://schemas.microsoft.com/office/drawing/2014/main" id="{12C1E3C3-DE8A-0783-B1FB-78E1D4801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9BAE35-645A-5FE7-E399-B2D29517DD8B}"/>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281994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9EC0B-FCAB-E2D0-1E14-6CF2102C8E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DFA9F1-76A5-0419-F85F-604CDE8F09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01350-2FC5-3828-6E24-2833397923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1BDD21-8B6C-9ECE-47CA-BBC848A0F8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F65AEE-48D4-1784-B582-AADF16A8AF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291C6C-9E22-EACD-5B6B-89E083727910}"/>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8" name="Footer Placeholder 7">
            <a:extLst>
              <a:ext uri="{FF2B5EF4-FFF2-40B4-BE49-F238E27FC236}">
                <a16:creationId xmlns:a16="http://schemas.microsoft.com/office/drawing/2014/main" id="{F6C7F402-87E3-883C-7DCD-397F462D34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2258A8-0B15-C177-8DEC-5B059B7010E7}"/>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539701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4008C-9280-2EDC-8C39-88EF4AF39E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5EF227-5FE2-8089-85EA-4EE05BA11DFB}"/>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4" name="Footer Placeholder 3">
            <a:extLst>
              <a:ext uri="{FF2B5EF4-FFF2-40B4-BE49-F238E27FC236}">
                <a16:creationId xmlns:a16="http://schemas.microsoft.com/office/drawing/2014/main" id="{8413DF31-BFD7-5C2E-42EE-A44B9762B8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7C19DC-78E5-8BC4-42DF-CA34F1F7B5B4}"/>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151025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C5C62D-1355-37EA-456C-EF0EAD4684C8}"/>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3" name="Footer Placeholder 2">
            <a:extLst>
              <a:ext uri="{FF2B5EF4-FFF2-40B4-BE49-F238E27FC236}">
                <a16:creationId xmlns:a16="http://schemas.microsoft.com/office/drawing/2014/main" id="{54BA35DA-479A-C606-BE65-8EAE24461A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3F0B82-5752-F43D-C8E5-DE2D6311E27D}"/>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2873284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B1C4B-5C3B-6300-3D25-0984DDFDDB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2BCA9F-0063-F46A-A1AB-5BCABB294B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44BBD9-D185-C018-3B0E-F61EBC6F9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0189-D4C1-A60E-9FD1-69D56555C625}"/>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6" name="Footer Placeholder 5">
            <a:extLst>
              <a:ext uri="{FF2B5EF4-FFF2-40B4-BE49-F238E27FC236}">
                <a16:creationId xmlns:a16="http://schemas.microsoft.com/office/drawing/2014/main" id="{BEACC9A5-B3F0-CE2D-E1D7-0A2855C61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AB67B-3F4D-E05D-0E7F-0F63E717D2E5}"/>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196598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5F273-4E34-D21F-FAB4-4FBB1137DC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912A0F-BE69-4519-70DD-43CAF12CBA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BA82E8-3F9B-469A-E966-70DDFA388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7DE0CA-9AE9-43CD-0106-ED99CA3AEC4E}"/>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6" name="Footer Placeholder 5">
            <a:extLst>
              <a:ext uri="{FF2B5EF4-FFF2-40B4-BE49-F238E27FC236}">
                <a16:creationId xmlns:a16="http://schemas.microsoft.com/office/drawing/2014/main" id="{A5E733B0-2AC5-1EEF-9722-5AD35C75BE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19EF6E-7182-D586-7D82-F5F4CC0BB63F}"/>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85905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F4F92-0ED1-8733-6FB4-B6D2C5B90E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1B42C3-5C18-171F-B633-5B2BC9C885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97009A-EFB7-110A-EB47-1448FAE32916}"/>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90E0167A-FEBD-C82F-916B-38BE34E433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D2529-93D3-186D-B5DE-322945FAA4E1}"/>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60563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CEADA3-318C-495F-4412-CC52895709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98853C-BF3E-58BB-F350-7E458C352E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4638D-248F-536C-EC31-3D0F8D48115B}"/>
              </a:ext>
            </a:extLst>
          </p:cNvPr>
          <p:cNvSpPr>
            <a:spLocks noGrp="1"/>
          </p:cNvSpPr>
          <p:nvPr>
            <p:ph type="dt" sz="half" idx="10"/>
          </p:nvPr>
        </p:nvSpPr>
        <p:spPr/>
        <p:txBody>
          <a:body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897D9857-F5DD-C606-DBAD-0426FDF39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B0921C-4EC3-25A0-3998-DD37255B69F5}"/>
              </a:ext>
            </a:extLst>
          </p:cNvPr>
          <p:cNvSpPr>
            <a:spLocks noGrp="1"/>
          </p:cNvSpPr>
          <p:nvPr>
            <p:ph type="sldNum" sz="quarter" idx="12"/>
          </p:nvPr>
        </p:nvSpPr>
        <p:spPr/>
        <p:txBody>
          <a:bodyPr/>
          <a:lstStyle/>
          <a:p>
            <a:fld id="{F01B963D-5EEA-4CD0-A388-EF4EF84E992A}" type="slidenum">
              <a:rPr lang="en-US" smtClean="0"/>
              <a:t>‹#›</a:t>
            </a:fld>
            <a:endParaRPr lang="en-US"/>
          </a:p>
        </p:txBody>
      </p:sp>
    </p:spTree>
    <p:extLst>
      <p:ext uri="{BB962C8B-B14F-4D97-AF65-F5344CB8AC3E}">
        <p14:creationId xmlns:p14="http://schemas.microsoft.com/office/powerpoint/2010/main" val="3078892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59AD60-CE41-1306-7913-734A699BEF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9AD29F-A2F7-1C88-DB92-909A87EFEB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2C0F0-AA3B-48F9-AA7D-C67D016EF1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DF58E-3A15-484E-8EFD-A17E89973455}" type="datetimeFigureOut">
              <a:rPr lang="en-US" smtClean="0"/>
              <a:t>11/16/2025</a:t>
            </a:fld>
            <a:endParaRPr lang="en-US"/>
          </a:p>
        </p:txBody>
      </p:sp>
      <p:sp>
        <p:nvSpPr>
          <p:cNvPr id="5" name="Footer Placeholder 4">
            <a:extLst>
              <a:ext uri="{FF2B5EF4-FFF2-40B4-BE49-F238E27FC236}">
                <a16:creationId xmlns:a16="http://schemas.microsoft.com/office/drawing/2014/main" id="{9E5F25FB-E473-49C1-0841-F68BA5B644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5FF1AE-B903-BC86-29E1-B64362252F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1B963D-5EEA-4CD0-A388-EF4EF84E992A}" type="slidenum">
              <a:rPr lang="en-US" smtClean="0"/>
              <a:t>‹#›</a:t>
            </a:fld>
            <a:endParaRPr lang="en-US"/>
          </a:p>
        </p:txBody>
      </p:sp>
    </p:spTree>
    <p:extLst>
      <p:ext uri="{BB962C8B-B14F-4D97-AF65-F5344CB8AC3E}">
        <p14:creationId xmlns:p14="http://schemas.microsoft.com/office/powerpoint/2010/main" val="186645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FEB0-FABD-AACB-7A8F-2674AE8609F9}"/>
              </a:ext>
            </a:extLst>
          </p:cNvPr>
          <p:cNvSpPr>
            <a:spLocks noGrp="1"/>
          </p:cNvSpPr>
          <p:nvPr>
            <p:ph type="ctrTitle"/>
          </p:nvPr>
        </p:nvSpPr>
        <p:spPr>
          <a:xfrm>
            <a:off x="1524000" y="1122363"/>
            <a:ext cx="9144000" cy="3035980"/>
          </a:xfrm>
        </p:spPr>
        <p:txBody>
          <a:bodyPr>
            <a:normAutofit fontScale="90000"/>
          </a:bodyPr>
          <a:lstStyle/>
          <a:p>
            <a:r>
              <a:rPr lang="en-US" dirty="0"/>
              <a:t>Co-</a:t>
            </a:r>
            <a:r>
              <a:rPr lang="en-US" dirty="0" err="1"/>
              <a:t>NavGPT</a:t>
            </a:r>
            <a:r>
              <a:rPr lang="en-US" dirty="0"/>
              <a:t>: Multi-Robot Cooperative Visual Semantic Navigation Using Vision Language Models</a:t>
            </a:r>
          </a:p>
        </p:txBody>
      </p:sp>
      <p:sp>
        <p:nvSpPr>
          <p:cNvPr id="3" name="Subtitle 2">
            <a:extLst>
              <a:ext uri="{FF2B5EF4-FFF2-40B4-BE49-F238E27FC236}">
                <a16:creationId xmlns:a16="http://schemas.microsoft.com/office/drawing/2014/main" id="{57625296-0E53-E396-9E65-A572A55C8F25}"/>
              </a:ext>
            </a:extLst>
          </p:cNvPr>
          <p:cNvSpPr>
            <a:spLocks noGrp="1"/>
          </p:cNvSpPr>
          <p:nvPr>
            <p:ph type="subTitle" idx="1"/>
          </p:nvPr>
        </p:nvSpPr>
        <p:spPr>
          <a:xfrm>
            <a:off x="1524000" y="4582884"/>
            <a:ext cx="9350829" cy="1240973"/>
          </a:xfrm>
        </p:spPr>
        <p:txBody>
          <a:bodyPr>
            <a:normAutofit fontScale="92500" lnSpcReduction="10000"/>
          </a:bodyPr>
          <a:lstStyle/>
          <a:p>
            <a:r>
              <a:rPr lang="en-US" dirty="0"/>
              <a:t>Authors: Bangguo Yu, </a:t>
            </a:r>
            <a:r>
              <a:rPr lang="en-US" dirty="0" err="1"/>
              <a:t>Qihao</a:t>
            </a:r>
            <a:r>
              <a:rPr lang="en-US" dirty="0"/>
              <a:t> Yuan, Kailai Li, Hamidreza </a:t>
            </a:r>
            <a:r>
              <a:rPr lang="en-US" dirty="0" err="1"/>
              <a:t>Kasaei</a:t>
            </a:r>
            <a:r>
              <a:rPr lang="en-US" dirty="0"/>
              <a:t>, and Ming Cao</a:t>
            </a:r>
          </a:p>
          <a:p>
            <a:endParaRPr lang="en-US" dirty="0"/>
          </a:p>
          <a:p>
            <a:r>
              <a:rPr lang="en-US" dirty="0"/>
              <a:t>Presenting by: Gopireddy Avinash Reddy</a:t>
            </a:r>
          </a:p>
        </p:txBody>
      </p:sp>
    </p:spTree>
    <p:extLst>
      <p:ext uri="{BB962C8B-B14F-4D97-AF65-F5344CB8AC3E}">
        <p14:creationId xmlns:p14="http://schemas.microsoft.com/office/powerpoint/2010/main" val="2429860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CCDC-ED17-D1E9-08D5-0A84E45426E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6386CE5-C0E8-5AC1-23AD-FAF73CE0FE17}"/>
              </a:ext>
            </a:extLst>
          </p:cNvPr>
          <p:cNvSpPr>
            <a:spLocks noGrp="1"/>
          </p:cNvSpPr>
          <p:nvPr>
            <p:ph idx="1"/>
          </p:nvPr>
        </p:nvSpPr>
        <p:spPr/>
        <p:txBody>
          <a:bodyPr/>
          <a:lstStyle/>
          <a:p>
            <a:r>
              <a:rPr lang="en-US" dirty="0"/>
              <a:t>Robots must search for objects in large, unknown environments.</a:t>
            </a:r>
          </a:p>
          <a:p>
            <a:r>
              <a:rPr lang="en-US" dirty="0"/>
              <a:t>Existing approaches mostly use single robots, leading to:</a:t>
            </a:r>
          </a:p>
          <a:p>
            <a:pPr lvl="1"/>
            <a:r>
              <a:rPr lang="en-US" dirty="0"/>
              <a:t>slow exploration</a:t>
            </a:r>
          </a:p>
          <a:p>
            <a:pPr lvl="1"/>
            <a:r>
              <a:rPr lang="en-US" dirty="0"/>
              <a:t>low efficiency in complex spaces</a:t>
            </a:r>
          </a:p>
          <a:p>
            <a:pPr lvl="1"/>
            <a:r>
              <a:rPr lang="en-US" dirty="0"/>
              <a:t>poor fault tolerance.</a:t>
            </a:r>
          </a:p>
          <a:p>
            <a:r>
              <a:rPr lang="en-US" dirty="0"/>
              <a:t>Vision-Language Models (VLMs) introduced for navigation provide semantic reasoning, but are still used in single-agent systems.</a:t>
            </a:r>
          </a:p>
          <a:p>
            <a:r>
              <a:rPr lang="en-US" b="1" dirty="0"/>
              <a:t>Specific Problem: </a:t>
            </a:r>
            <a:r>
              <a:rPr lang="en-US" dirty="0"/>
              <a:t>How to enable multiple robots to collaboratively locate a target object using shared scene understanding and common-sense reasoning?</a:t>
            </a:r>
          </a:p>
        </p:txBody>
      </p:sp>
    </p:spTree>
    <p:extLst>
      <p:ext uri="{BB962C8B-B14F-4D97-AF65-F5344CB8AC3E}">
        <p14:creationId xmlns:p14="http://schemas.microsoft.com/office/powerpoint/2010/main" val="1715651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CF866-3947-55E3-77F0-96A467680614}"/>
              </a:ext>
            </a:extLst>
          </p:cNvPr>
          <p:cNvPicPr>
            <a:picLocks noChangeAspect="1"/>
          </p:cNvPicPr>
          <p:nvPr/>
        </p:nvPicPr>
        <p:blipFill>
          <a:blip r:embed="rId3"/>
          <a:stretch>
            <a:fillRect/>
          </a:stretch>
        </p:blipFill>
        <p:spPr>
          <a:xfrm>
            <a:off x="3781102" y="1033128"/>
            <a:ext cx="4629796" cy="4791744"/>
          </a:xfrm>
          <a:prstGeom prst="rect">
            <a:avLst/>
          </a:prstGeom>
        </p:spPr>
      </p:pic>
    </p:spTree>
    <p:extLst>
      <p:ext uri="{BB962C8B-B14F-4D97-AF65-F5344CB8AC3E}">
        <p14:creationId xmlns:p14="http://schemas.microsoft.com/office/powerpoint/2010/main" val="2076249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D205B-5F51-0DF9-94FE-8D17261795B8}"/>
              </a:ext>
            </a:extLst>
          </p:cNvPr>
          <p:cNvSpPr>
            <a:spLocks noGrp="1"/>
          </p:cNvSpPr>
          <p:nvPr>
            <p:ph type="title"/>
          </p:nvPr>
        </p:nvSpPr>
        <p:spPr/>
        <p:txBody>
          <a:bodyPr/>
          <a:lstStyle/>
          <a:p>
            <a:r>
              <a:rPr lang="en-US" dirty="0"/>
              <a:t>Proposed Novel approach</a:t>
            </a:r>
          </a:p>
        </p:txBody>
      </p:sp>
      <p:sp>
        <p:nvSpPr>
          <p:cNvPr id="3" name="Content Placeholder 2">
            <a:extLst>
              <a:ext uri="{FF2B5EF4-FFF2-40B4-BE49-F238E27FC236}">
                <a16:creationId xmlns:a16="http://schemas.microsoft.com/office/drawing/2014/main" id="{A2017C87-9F67-8278-FCB3-30F248262B47}"/>
              </a:ext>
            </a:extLst>
          </p:cNvPr>
          <p:cNvSpPr>
            <a:spLocks noGrp="1"/>
          </p:cNvSpPr>
          <p:nvPr>
            <p:ph idx="1"/>
          </p:nvPr>
        </p:nvSpPr>
        <p:spPr/>
        <p:txBody>
          <a:bodyPr/>
          <a:lstStyle/>
          <a:p>
            <a:r>
              <a:rPr lang="en-US" dirty="0"/>
              <a:t>Introduces Co-</a:t>
            </a:r>
            <a:r>
              <a:rPr lang="en-US" dirty="0" err="1"/>
              <a:t>NavGPT</a:t>
            </a:r>
            <a:r>
              <a:rPr lang="en-US" dirty="0"/>
              <a:t>, the first multi-robot visual navigation system using a VLM as a global planner.</a:t>
            </a:r>
          </a:p>
          <a:p>
            <a:r>
              <a:rPr lang="en-US" dirty="0"/>
              <a:t>Key innovations:</a:t>
            </a:r>
          </a:p>
          <a:p>
            <a:pPr lvl="1"/>
            <a:r>
              <a:rPr lang="en-US" dirty="0"/>
              <a:t>Merge local maps into a global 3D semantic map.</a:t>
            </a:r>
          </a:p>
          <a:p>
            <a:pPr lvl="1"/>
            <a:r>
              <a:rPr lang="en-US" dirty="0"/>
              <a:t>Extract frontier regions and encode them into visual + textual prompts.</a:t>
            </a:r>
          </a:p>
          <a:p>
            <a:pPr lvl="1"/>
            <a:r>
              <a:rPr lang="en-US" dirty="0"/>
              <a:t>GPT-4o assigns optimal frontiers to each robot → coordinated exploration.</a:t>
            </a:r>
          </a:p>
          <a:p>
            <a:pPr lvl="1"/>
            <a:r>
              <a:rPr lang="en-US" dirty="0"/>
              <a:t>No task-specific training required (zero-shot planning).</a:t>
            </a:r>
          </a:p>
        </p:txBody>
      </p:sp>
    </p:spTree>
    <p:extLst>
      <p:ext uri="{BB962C8B-B14F-4D97-AF65-F5344CB8AC3E}">
        <p14:creationId xmlns:p14="http://schemas.microsoft.com/office/powerpoint/2010/main" val="2118459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472FD3-EC1C-5BEE-5118-10FA0E9F230A}"/>
              </a:ext>
            </a:extLst>
          </p:cNvPr>
          <p:cNvPicPr>
            <a:picLocks noChangeAspect="1"/>
          </p:cNvPicPr>
          <p:nvPr/>
        </p:nvPicPr>
        <p:blipFill>
          <a:blip r:embed="rId3"/>
          <a:stretch>
            <a:fillRect/>
          </a:stretch>
        </p:blipFill>
        <p:spPr>
          <a:xfrm>
            <a:off x="985124" y="552048"/>
            <a:ext cx="10221751" cy="5753903"/>
          </a:xfrm>
          <a:prstGeom prst="rect">
            <a:avLst/>
          </a:prstGeom>
        </p:spPr>
      </p:pic>
    </p:spTree>
    <p:extLst>
      <p:ext uri="{BB962C8B-B14F-4D97-AF65-F5344CB8AC3E}">
        <p14:creationId xmlns:p14="http://schemas.microsoft.com/office/powerpoint/2010/main" val="1985708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0EFCC-A058-E14E-6EC7-A998873B5D5A}"/>
              </a:ext>
            </a:extLst>
          </p:cNvPr>
          <p:cNvSpPr>
            <a:spLocks noGrp="1"/>
          </p:cNvSpPr>
          <p:nvPr>
            <p:ph type="title"/>
          </p:nvPr>
        </p:nvSpPr>
        <p:spPr/>
        <p:txBody>
          <a:bodyPr/>
          <a:lstStyle/>
          <a:p>
            <a:r>
              <a:rPr lang="en-US" dirty="0"/>
              <a:t>Connection to Motion Planning</a:t>
            </a:r>
          </a:p>
        </p:txBody>
      </p:sp>
      <p:sp>
        <p:nvSpPr>
          <p:cNvPr id="3" name="Content Placeholder 2">
            <a:extLst>
              <a:ext uri="{FF2B5EF4-FFF2-40B4-BE49-F238E27FC236}">
                <a16:creationId xmlns:a16="http://schemas.microsoft.com/office/drawing/2014/main" id="{8CF9F559-AA52-E4E9-DEE9-B81185DBEB2C}"/>
              </a:ext>
            </a:extLst>
          </p:cNvPr>
          <p:cNvSpPr>
            <a:spLocks noGrp="1"/>
          </p:cNvSpPr>
          <p:nvPr>
            <p:ph idx="1"/>
          </p:nvPr>
        </p:nvSpPr>
        <p:spPr/>
        <p:txBody>
          <a:bodyPr/>
          <a:lstStyle/>
          <a:p>
            <a:r>
              <a:rPr lang="en-US" dirty="0"/>
              <a:t>VLM performs high-level planning: frontier selection, reasoning about scene semantics, multi-agent coordination.</a:t>
            </a:r>
          </a:p>
          <a:p>
            <a:r>
              <a:rPr lang="en-US" dirty="0"/>
              <a:t>Local planner uses navigation algorithms for safe motion.</a:t>
            </a:r>
          </a:p>
          <a:p>
            <a:r>
              <a:rPr lang="en-US" dirty="0"/>
              <a:t>Remaining Issues:</a:t>
            </a:r>
          </a:p>
          <a:p>
            <a:pPr lvl="1"/>
            <a:r>
              <a:rPr lang="en-US" dirty="0"/>
              <a:t>Limited by object detection accuracy.</a:t>
            </a:r>
          </a:p>
          <a:p>
            <a:pPr lvl="1"/>
            <a:r>
              <a:rPr lang="en-US" dirty="0"/>
              <a:t>Multi-floor navigation still challenging.</a:t>
            </a:r>
          </a:p>
          <a:p>
            <a:pPr lvl="1"/>
            <a:r>
              <a:rPr lang="en-US" dirty="0"/>
              <a:t>VLM may fail with ambiguous frontier prompts.</a:t>
            </a:r>
          </a:p>
        </p:txBody>
      </p:sp>
    </p:spTree>
    <p:extLst>
      <p:ext uri="{BB962C8B-B14F-4D97-AF65-F5344CB8AC3E}">
        <p14:creationId xmlns:p14="http://schemas.microsoft.com/office/powerpoint/2010/main" val="690916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F8159-FFFF-5AF3-4124-500D954221B8}"/>
              </a:ext>
            </a:extLst>
          </p:cNvPr>
          <p:cNvSpPr>
            <a:spLocks noGrp="1"/>
          </p:cNvSpPr>
          <p:nvPr>
            <p:ph type="title"/>
          </p:nvPr>
        </p:nvSpPr>
        <p:spPr/>
        <p:txBody>
          <a:bodyPr/>
          <a:lstStyle/>
          <a:p>
            <a:r>
              <a:rPr lang="en-US" dirty="0"/>
              <a:t>Results and Discussion</a:t>
            </a:r>
          </a:p>
        </p:txBody>
      </p:sp>
      <p:sp>
        <p:nvSpPr>
          <p:cNvPr id="3" name="Content Placeholder 2">
            <a:extLst>
              <a:ext uri="{FF2B5EF4-FFF2-40B4-BE49-F238E27FC236}">
                <a16:creationId xmlns:a16="http://schemas.microsoft.com/office/drawing/2014/main" id="{FEB4926C-10F6-38B2-0236-F42DEF4501FD}"/>
              </a:ext>
            </a:extLst>
          </p:cNvPr>
          <p:cNvSpPr>
            <a:spLocks noGrp="1"/>
          </p:cNvSpPr>
          <p:nvPr>
            <p:ph idx="1"/>
          </p:nvPr>
        </p:nvSpPr>
        <p:spPr/>
        <p:txBody>
          <a:bodyPr/>
          <a:lstStyle/>
          <a:p>
            <a:r>
              <a:rPr lang="en-US" b="1" dirty="0"/>
              <a:t>A. Simulation Experiment:</a:t>
            </a:r>
          </a:p>
          <a:p>
            <a:r>
              <a:rPr lang="en-US" dirty="0"/>
              <a:t>All experiments are conducted using the Habitat simulator. </a:t>
            </a:r>
          </a:p>
          <a:p>
            <a:r>
              <a:rPr lang="en-US" dirty="0"/>
              <a:t>Each robot receives 480×640 RGB D observations, odometry information, and a goal category encoded as an integer.</a:t>
            </a:r>
          </a:p>
          <a:p>
            <a:r>
              <a:rPr lang="en-US" dirty="0"/>
              <a:t>Evaluation Metrics: Success Rate (SR), Success weighted by the Path Length (SPL), and Distance to Goal (DTG) for multi-robot tasks.</a:t>
            </a:r>
          </a:p>
          <a:p>
            <a:r>
              <a:rPr lang="en-US" dirty="0"/>
              <a:t>Baselines: Greedy, Cost-Utility, Random Sampling and Multi-</a:t>
            </a:r>
            <a:r>
              <a:rPr lang="en-US" dirty="0" err="1"/>
              <a:t>SemExp</a:t>
            </a:r>
            <a:endParaRPr lang="en-US" dirty="0"/>
          </a:p>
        </p:txBody>
      </p:sp>
    </p:spTree>
    <p:extLst>
      <p:ext uri="{BB962C8B-B14F-4D97-AF65-F5344CB8AC3E}">
        <p14:creationId xmlns:p14="http://schemas.microsoft.com/office/powerpoint/2010/main" val="3441672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8093B4-9A2A-551E-FEE0-51331DAD57D3}"/>
              </a:ext>
            </a:extLst>
          </p:cNvPr>
          <p:cNvPicPr>
            <a:picLocks noChangeAspect="1"/>
          </p:cNvPicPr>
          <p:nvPr/>
        </p:nvPicPr>
        <p:blipFill>
          <a:blip r:embed="rId3"/>
          <a:stretch>
            <a:fillRect/>
          </a:stretch>
        </p:blipFill>
        <p:spPr>
          <a:xfrm>
            <a:off x="2200275" y="828676"/>
            <a:ext cx="6643687" cy="4781854"/>
          </a:xfrm>
          <a:prstGeom prst="rect">
            <a:avLst/>
          </a:prstGeom>
        </p:spPr>
      </p:pic>
    </p:spTree>
    <p:extLst>
      <p:ext uri="{BB962C8B-B14F-4D97-AF65-F5344CB8AC3E}">
        <p14:creationId xmlns:p14="http://schemas.microsoft.com/office/powerpoint/2010/main" val="1941296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6D29C0-0C43-9748-97DF-5387D30E548D}"/>
              </a:ext>
            </a:extLst>
          </p:cNvPr>
          <p:cNvPicPr>
            <a:picLocks noChangeAspect="1"/>
          </p:cNvPicPr>
          <p:nvPr/>
        </p:nvPicPr>
        <p:blipFill>
          <a:blip r:embed="rId3"/>
          <a:stretch>
            <a:fillRect/>
          </a:stretch>
        </p:blipFill>
        <p:spPr>
          <a:xfrm>
            <a:off x="1132782" y="1890498"/>
            <a:ext cx="9926435" cy="3077004"/>
          </a:xfrm>
          <a:prstGeom prst="rect">
            <a:avLst/>
          </a:prstGeom>
        </p:spPr>
      </p:pic>
    </p:spTree>
    <p:extLst>
      <p:ext uri="{BB962C8B-B14F-4D97-AF65-F5344CB8AC3E}">
        <p14:creationId xmlns:p14="http://schemas.microsoft.com/office/powerpoint/2010/main" val="290181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A2E6-24FD-E20F-814F-202D6A3996EF}"/>
              </a:ext>
            </a:extLst>
          </p:cNvPr>
          <p:cNvSpPr>
            <a:spLocks noGrp="1"/>
          </p:cNvSpPr>
          <p:nvPr>
            <p:ph type="title"/>
          </p:nvPr>
        </p:nvSpPr>
        <p:spPr/>
        <p:txBody>
          <a:bodyPr/>
          <a:lstStyle/>
          <a:p>
            <a:r>
              <a:rPr lang="en-US" dirty="0"/>
              <a:t>Results and Discussion</a:t>
            </a:r>
          </a:p>
        </p:txBody>
      </p:sp>
      <p:sp>
        <p:nvSpPr>
          <p:cNvPr id="3" name="Content Placeholder 2">
            <a:extLst>
              <a:ext uri="{FF2B5EF4-FFF2-40B4-BE49-F238E27FC236}">
                <a16:creationId xmlns:a16="http://schemas.microsoft.com/office/drawing/2014/main" id="{BB04D784-D2C3-4C1B-DAA1-A53D2EFA1B8E}"/>
              </a:ext>
            </a:extLst>
          </p:cNvPr>
          <p:cNvSpPr>
            <a:spLocks noGrp="1"/>
          </p:cNvSpPr>
          <p:nvPr>
            <p:ph idx="1"/>
          </p:nvPr>
        </p:nvSpPr>
        <p:spPr/>
        <p:txBody>
          <a:bodyPr>
            <a:normAutofit lnSpcReduction="10000"/>
          </a:bodyPr>
          <a:lstStyle/>
          <a:p>
            <a:r>
              <a:rPr lang="en-US" b="1" dirty="0"/>
              <a:t>B. Real-World Experiment:</a:t>
            </a:r>
          </a:p>
          <a:p>
            <a:r>
              <a:rPr lang="en-US" dirty="0"/>
              <a:t>Two Unitree Go2 quadruped robots, each equipped with a RealSense D455 RGB-D camera and a </a:t>
            </a:r>
            <a:r>
              <a:rPr lang="en-US" dirty="0" err="1"/>
              <a:t>Livox</a:t>
            </a:r>
            <a:r>
              <a:rPr lang="en-US" dirty="0"/>
              <a:t> Mid-360 LiDAR. </a:t>
            </a:r>
          </a:p>
          <a:p>
            <a:r>
              <a:rPr lang="en-US" dirty="0"/>
              <a:t>Deployed in a real-world, previously unseen lab environment.</a:t>
            </a:r>
          </a:p>
          <a:p>
            <a:r>
              <a:rPr lang="en-US" dirty="0"/>
              <a:t>Navigation tasks include locating objects: a chair, a sink, and a person.</a:t>
            </a:r>
          </a:p>
          <a:p>
            <a:r>
              <a:rPr lang="en-US" dirty="0"/>
              <a:t>Result: VLM successfully assigns complementary frontiers to the robots, enabling cooperative exploration and efficient target search</a:t>
            </a:r>
          </a:p>
          <a:p>
            <a:r>
              <a:rPr lang="en-US" dirty="0"/>
              <a:t>The entire system runs in real time at approximately 5 FPS.</a:t>
            </a:r>
          </a:p>
        </p:txBody>
      </p:sp>
    </p:spTree>
    <p:extLst>
      <p:ext uri="{BB962C8B-B14F-4D97-AF65-F5344CB8AC3E}">
        <p14:creationId xmlns:p14="http://schemas.microsoft.com/office/powerpoint/2010/main" val="897624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C51CB4-7BF6-0047-DB7E-B9B6A7686C0D}"/>
              </a:ext>
            </a:extLst>
          </p:cNvPr>
          <p:cNvPicPr>
            <a:picLocks noChangeAspect="1"/>
          </p:cNvPicPr>
          <p:nvPr/>
        </p:nvPicPr>
        <p:blipFill>
          <a:blip r:embed="rId3"/>
          <a:stretch>
            <a:fillRect/>
          </a:stretch>
        </p:blipFill>
        <p:spPr>
          <a:xfrm>
            <a:off x="337108" y="0"/>
            <a:ext cx="5506067" cy="3353053"/>
          </a:xfrm>
          <a:prstGeom prst="rect">
            <a:avLst/>
          </a:prstGeom>
        </p:spPr>
      </p:pic>
      <p:pic>
        <p:nvPicPr>
          <p:cNvPr id="5" name="Picture 4">
            <a:extLst>
              <a:ext uri="{FF2B5EF4-FFF2-40B4-BE49-F238E27FC236}">
                <a16:creationId xmlns:a16="http://schemas.microsoft.com/office/drawing/2014/main" id="{B22BB501-10F7-7212-7B4F-22E66205B432}"/>
              </a:ext>
            </a:extLst>
          </p:cNvPr>
          <p:cNvPicPr>
            <a:picLocks noChangeAspect="1"/>
          </p:cNvPicPr>
          <p:nvPr/>
        </p:nvPicPr>
        <p:blipFill>
          <a:blip r:embed="rId4"/>
          <a:stretch>
            <a:fillRect/>
          </a:stretch>
        </p:blipFill>
        <p:spPr>
          <a:xfrm>
            <a:off x="5843175" y="0"/>
            <a:ext cx="5592405" cy="3497501"/>
          </a:xfrm>
          <a:prstGeom prst="rect">
            <a:avLst/>
          </a:prstGeom>
        </p:spPr>
      </p:pic>
      <p:pic>
        <p:nvPicPr>
          <p:cNvPr id="7" name="Picture 6">
            <a:extLst>
              <a:ext uri="{FF2B5EF4-FFF2-40B4-BE49-F238E27FC236}">
                <a16:creationId xmlns:a16="http://schemas.microsoft.com/office/drawing/2014/main" id="{27762240-A6E5-CF08-3587-01E45E9F124F}"/>
              </a:ext>
            </a:extLst>
          </p:cNvPr>
          <p:cNvPicPr>
            <a:picLocks noChangeAspect="1"/>
          </p:cNvPicPr>
          <p:nvPr/>
        </p:nvPicPr>
        <p:blipFill>
          <a:blip r:embed="rId5"/>
          <a:stretch>
            <a:fillRect/>
          </a:stretch>
        </p:blipFill>
        <p:spPr>
          <a:xfrm>
            <a:off x="2937857" y="3429000"/>
            <a:ext cx="5592405" cy="3394132"/>
          </a:xfrm>
          <a:prstGeom prst="rect">
            <a:avLst/>
          </a:prstGeom>
        </p:spPr>
      </p:pic>
    </p:spTree>
    <p:extLst>
      <p:ext uri="{BB962C8B-B14F-4D97-AF65-F5344CB8AC3E}">
        <p14:creationId xmlns:p14="http://schemas.microsoft.com/office/powerpoint/2010/main" val="327593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6B5D-B924-1AF2-C9B1-12392A99F402}"/>
              </a:ext>
            </a:extLst>
          </p:cNvPr>
          <p:cNvSpPr>
            <a:spLocks noGrp="1"/>
          </p:cNvSpPr>
          <p:nvPr>
            <p:ph type="title"/>
          </p:nvPr>
        </p:nvSpPr>
        <p:spPr/>
        <p:txBody>
          <a:bodyPr/>
          <a:lstStyle/>
          <a:p>
            <a:r>
              <a:rPr lang="en-US" b="1" dirty="0"/>
              <a:t>Connection to Our Project</a:t>
            </a:r>
            <a:endParaRPr lang="en-US" dirty="0"/>
          </a:p>
        </p:txBody>
      </p:sp>
      <p:sp>
        <p:nvSpPr>
          <p:cNvPr id="3" name="Content Placeholder 2">
            <a:extLst>
              <a:ext uri="{FF2B5EF4-FFF2-40B4-BE49-F238E27FC236}">
                <a16:creationId xmlns:a16="http://schemas.microsoft.com/office/drawing/2014/main" id="{811D9526-D044-0D8D-26BE-BADD92E89D05}"/>
              </a:ext>
            </a:extLst>
          </p:cNvPr>
          <p:cNvSpPr>
            <a:spLocks noGrp="1"/>
          </p:cNvSpPr>
          <p:nvPr>
            <p:ph idx="1"/>
          </p:nvPr>
        </p:nvSpPr>
        <p:spPr/>
        <p:txBody>
          <a:bodyPr>
            <a:normAutofit/>
          </a:bodyPr>
          <a:lstStyle/>
          <a:p>
            <a:r>
              <a:rPr lang="en-US" dirty="0"/>
              <a:t>We plan to use Co-</a:t>
            </a:r>
            <a:r>
              <a:rPr lang="en-US" dirty="0" err="1"/>
              <a:t>NavGPT</a:t>
            </a:r>
            <a:r>
              <a:rPr lang="en-US" dirty="0"/>
              <a:t> as a baseline for evaluating multi-robot coordination.</a:t>
            </a:r>
          </a:p>
          <a:p>
            <a:r>
              <a:rPr lang="en-US" dirty="0"/>
              <a:t>Like Co-</a:t>
            </a:r>
            <a:r>
              <a:rPr lang="en-US" dirty="0" err="1"/>
              <a:t>NavGPT</a:t>
            </a:r>
            <a:r>
              <a:rPr lang="en-US" dirty="0"/>
              <a:t>, we will use both simulation environments and two Unitree Go2 robots for real-world deployment.</a:t>
            </a:r>
          </a:p>
          <a:p>
            <a:r>
              <a:rPr lang="en-US" dirty="0"/>
              <a:t>Our system will integrate </a:t>
            </a:r>
            <a:r>
              <a:rPr lang="en-US" b="1" dirty="0"/>
              <a:t>camera + LiDAR inputs</a:t>
            </a:r>
            <a:r>
              <a:rPr lang="en-US" dirty="0"/>
              <a:t> with </a:t>
            </a:r>
            <a:r>
              <a:rPr lang="en-US" b="1" dirty="0"/>
              <a:t>text-based task prompts</a:t>
            </a:r>
            <a:r>
              <a:rPr lang="en-US" dirty="0"/>
              <a:t> to generate collaborative plans and execute multi-robot tasks.</a:t>
            </a:r>
          </a:p>
          <a:p>
            <a:r>
              <a:rPr lang="en-US" dirty="0"/>
              <a:t>Co-</a:t>
            </a:r>
            <a:r>
              <a:rPr lang="en-US" dirty="0" err="1"/>
              <a:t>NavGPT</a:t>
            </a:r>
            <a:r>
              <a:rPr lang="en-US" dirty="0"/>
              <a:t> provides a strong reference point for comparing how different VLM-driven planning strategies influence multi-robot efficiency and decision-making.</a:t>
            </a:r>
          </a:p>
          <a:p>
            <a:endParaRPr lang="en-US" dirty="0"/>
          </a:p>
        </p:txBody>
      </p:sp>
    </p:spTree>
    <p:extLst>
      <p:ext uri="{BB962C8B-B14F-4D97-AF65-F5344CB8AC3E}">
        <p14:creationId xmlns:p14="http://schemas.microsoft.com/office/powerpoint/2010/main" val="228060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1489</Words>
  <Application>Microsoft Office PowerPoint</Application>
  <PresentationFormat>Widescreen</PresentationFormat>
  <Paragraphs>68</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Co-NavGPT: Multi-Robot Cooperative Visual Semantic Navigation Using Vision Language Models</vt:lpstr>
      <vt:lpstr>Introduction</vt:lpstr>
      <vt:lpstr>PowerPoint Presentation</vt:lpstr>
      <vt:lpstr>Proposed Novel approach</vt:lpstr>
      <vt:lpstr>PowerPoint Presentation</vt:lpstr>
      <vt:lpstr>Connection to Motion Planning</vt:lpstr>
      <vt:lpstr>Results and Discussion</vt:lpstr>
      <vt:lpstr>PowerPoint Presentation</vt:lpstr>
      <vt:lpstr>PowerPoint Presentation</vt:lpstr>
      <vt:lpstr>Results and Discussion</vt:lpstr>
      <vt:lpstr>PowerPoint Presentation</vt:lpstr>
      <vt:lpstr>Connection to Our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AVINASH REDDY GOPIREDDY</dc:creator>
  <cp:lastModifiedBy>AVINASH REDDY GOPIREDDY</cp:lastModifiedBy>
  <cp:revision>1</cp:revision>
  <dcterms:created xsi:type="dcterms:W3CDTF">2025-11-17T01:42:27Z</dcterms:created>
  <dcterms:modified xsi:type="dcterms:W3CDTF">2025-11-17T04:09:45Z</dcterms:modified>
</cp:coreProperties>
</file>